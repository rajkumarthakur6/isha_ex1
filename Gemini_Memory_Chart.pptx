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10312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47E78"/>
                </a:solidFill>
                <a:latin typeface="Aptos"/>
              </a:rPr>
              <a:t>GEMINI /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78992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8343B"/>
                </a:solidFill>
                <a:latin typeface="Georgia"/>
              </a:rPr>
              <a:t>Gemini Memory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69848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26B70"/>
                </a:solidFill>
                <a:latin typeface="Aptos"/>
              </a:rPr>
              <a:t>Follow the path from a hidden key to the text you can read. Fill each box in your own words.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0464" y="6473952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526B70"/>
                </a:solidFill>
                <a:latin typeface="Aptos"/>
              </a:rPr>
              <a:t>01  / 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" y="1874519"/>
            <a:ext cx="2084831" cy="3547872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" y="1874519"/>
            <a:ext cx="2084831" cy="109728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" y="2130552"/>
            <a:ext cx="393192" cy="393192"/>
          </a:xfrm>
          <a:prstGeom prst="ellipse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130552"/>
            <a:ext cx="393192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624327"/>
            <a:ext cx="1755648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8343B"/>
                </a:solidFill>
                <a:latin typeface="Aptos"/>
              </a:rPr>
              <a:t>Load the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3118104"/>
            <a:ext cx="1792223" cy="594360"/>
          </a:xfrm>
          <a:prstGeom prst="rect">
            <a:avLst/>
          </a:prstGeom>
          <a:solidFill>
            <a:srgbClr val="E5F1EC"/>
          </a:solidFill>
          <a:ln>
            <a:solidFill>
              <a:srgbClr val="E5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182111"/>
            <a:ext cx="1645919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8343B"/>
                </a:solidFill>
                <a:latin typeface="Consolas"/>
              </a:rPr>
              <a:t>load_dotenv()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886200"/>
            <a:ext cx="1755648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26B70"/>
                </a:solidFill>
                <a:latin typeface="Aptos"/>
              </a:rPr>
              <a:t>Where is the key saved?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26B70"/>
                </a:solidFill>
                <a:latin typeface="Aptos"/>
              </a:rPr>
              <a:t>What does this line load?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389120"/>
            <a:ext cx="1755648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7E78"/>
                </a:solidFill>
                <a:latin typeface="Consolas"/>
              </a:rPr>
              <a:t>__________________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47E78"/>
                </a:solidFill>
                <a:latin typeface="Consolas"/>
              </a:rPr>
              <a:t>__________________</a:t>
            </a:r>
          </a:p>
        </p:txBody>
      </p:sp>
      <p:sp>
        <p:nvSpPr>
          <p:cNvPr id="16" name="Chevron 15"/>
          <p:cNvSpPr/>
          <p:nvPr/>
        </p:nvSpPr>
        <p:spPr>
          <a:xfrm>
            <a:off x="2606039" y="3246120"/>
            <a:ext cx="128016" cy="292608"/>
          </a:xfrm>
          <a:prstGeom prst="chevron">
            <a:avLst/>
          </a:prstGeom>
          <a:solidFill>
            <a:srgbClr val="18343B"/>
          </a:solidFill>
          <a:ln>
            <a:solidFill>
              <a:srgbClr val="183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70632" y="1874519"/>
            <a:ext cx="2084831" cy="3547872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70632" y="1874519"/>
            <a:ext cx="2084831" cy="109728"/>
          </a:xfrm>
          <a:prstGeom prst="rect">
            <a:avLst/>
          </a:prstGeom>
          <a:solidFill>
            <a:srgbClr val="D96C4F"/>
          </a:solidFill>
          <a:ln>
            <a:solidFill>
              <a:srgbClr val="D96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35224" y="2130552"/>
            <a:ext cx="393192" cy="393192"/>
          </a:xfrm>
          <a:prstGeom prst="ellipse">
            <a:avLst/>
          </a:prstGeom>
          <a:solidFill>
            <a:srgbClr val="D96C4F"/>
          </a:solidFill>
          <a:ln>
            <a:solidFill>
              <a:srgbClr val="D96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2130552"/>
            <a:ext cx="393192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5224" y="2624327"/>
            <a:ext cx="1755648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8343B"/>
                </a:solidFill>
                <a:latin typeface="Aptos"/>
              </a:rPr>
              <a:t>Read the key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16936" y="3118104"/>
            <a:ext cx="1792223" cy="594360"/>
          </a:xfrm>
          <a:prstGeom prst="rect">
            <a:avLst/>
          </a:prstGeom>
          <a:solidFill>
            <a:srgbClr val="F9EBE5"/>
          </a:solidFill>
          <a:ln>
            <a:solidFill>
              <a:srgbClr val="F9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0087" y="3182111"/>
            <a:ext cx="1645919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8343B"/>
                </a:solidFill>
                <a:latin typeface="Consolas"/>
              </a:rPr>
              <a:t>os.getenv(...)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5224" y="3886200"/>
            <a:ext cx="1755648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26B70"/>
                </a:solidFill>
                <a:latin typeface="Aptos"/>
              </a:rPr>
              <a:t>What name goes inside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26B70"/>
                </a:solidFill>
                <a:latin typeface="Aptos"/>
              </a:rPr>
              <a:t>the parentheses?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5224" y="4389120"/>
            <a:ext cx="1755648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96C4F"/>
                </a:solidFill>
                <a:latin typeface="Consolas"/>
              </a:rPr>
              <a:t>__________________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D96C4F"/>
                </a:solidFill>
                <a:latin typeface="Consolas"/>
              </a:rPr>
              <a:t>__________________</a:t>
            </a:r>
          </a:p>
        </p:txBody>
      </p:sp>
      <p:sp>
        <p:nvSpPr>
          <p:cNvPr id="26" name="Chevron 25"/>
          <p:cNvSpPr/>
          <p:nvPr/>
        </p:nvSpPr>
        <p:spPr>
          <a:xfrm>
            <a:off x="4892040" y="3246120"/>
            <a:ext cx="128016" cy="292608"/>
          </a:xfrm>
          <a:prstGeom prst="chevron">
            <a:avLst/>
          </a:prstGeom>
          <a:solidFill>
            <a:srgbClr val="18343B"/>
          </a:solidFill>
          <a:ln>
            <a:solidFill>
              <a:srgbClr val="183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56632" y="1874519"/>
            <a:ext cx="2084831" cy="3547872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56632" y="1874519"/>
            <a:ext cx="2084831" cy="109728"/>
          </a:xfrm>
          <a:prstGeom prst="rect">
            <a:avLst/>
          </a:prstGeom>
          <a:solidFill>
            <a:srgbClr val="D3A637"/>
          </a:solidFill>
          <a:ln>
            <a:solidFill>
              <a:srgbClr val="D3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21224" y="2130552"/>
            <a:ext cx="393192" cy="393192"/>
          </a:xfrm>
          <a:prstGeom prst="ellipse">
            <a:avLst/>
          </a:prstGeom>
          <a:solidFill>
            <a:srgbClr val="D3A637"/>
          </a:solidFill>
          <a:ln>
            <a:solidFill>
              <a:srgbClr val="D3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21224" y="2130552"/>
            <a:ext cx="393192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1224" y="2624327"/>
            <a:ext cx="1755648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8343B"/>
                </a:solidFill>
                <a:latin typeface="Aptos"/>
              </a:rPr>
              <a:t>Make a client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02936" y="3118104"/>
            <a:ext cx="1792223" cy="594360"/>
          </a:xfrm>
          <a:prstGeom prst="rect">
            <a:avLst/>
          </a:prstGeom>
          <a:solidFill>
            <a:srgbClr val="F7F1DF"/>
          </a:solidFill>
          <a:ln>
            <a:solidFill>
              <a:srgbClr val="F7F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76088" y="3182111"/>
            <a:ext cx="1645919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8343B"/>
                </a:solidFill>
                <a:latin typeface="Consolas"/>
              </a:rPr>
              <a:t>genai.Client(...)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21224" y="3886200"/>
            <a:ext cx="1755648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26B70"/>
                </a:solidFill>
                <a:latin typeface="Aptos"/>
              </a:rPr>
              <a:t>Which value connects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26B70"/>
                </a:solidFill>
                <a:latin typeface="Aptos"/>
              </a:rPr>
              <a:t>your script to Gemini?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1224" y="4389120"/>
            <a:ext cx="1755648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3A637"/>
                </a:solidFill>
                <a:latin typeface="Consolas"/>
              </a:rPr>
              <a:t>__________________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D3A637"/>
                </a:solidFill>
                <a:latin typeface="Consolas"/>
              </a:rPr>
              <a:t>__________________</a:t>
            </a:r>
          </a:p>
        </p:txBody>
      </p:sp>
      <p:sp>
        <p:nvSpPr>
          <p:cNvPr id="36" name="Chevron 35"/>
          <p:cNvSpPr/>
          <p:nvPr/>
        </p:nvSpPr>
        <p:spPr>
          <a:xfrm>
            <a:off x="7178040" y="3246120"/>
            <a:ext cx="128016" cy="292608"/>
          </a:xfrm>
          <a:prstGeom prst="chevron">
            <a:avLst/>
          </a:prstGeom>
          <a:solidFill>
            <a:srgbClr val="18343B"/>
          </a:solidFill>
          <a:ln>
            <a:solidFill>
              <a:srgbClr val="183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42631" y="1874519"/>
            <a:ext cx="2084831" cy="3547872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42631" y="1874519"/>
            <a:ext cx="2084831" cy="109728"/>
          </a:xfrm>
          <a:prstGeom prst="rect">
            <a:avLst/>
          </a:prstGeom>
          <a:solidFill>
            <a:srgbClr val="4C91A1"/>
          </a:solidFill>
          <a:ln>
            <a:solidFill>
              <a:srgbClr val="4C9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07223" y="2130552"/>
            <a:ext cx="393192" cy="393192"/>
          </a:xfrm>
          <a:prstGeom prst="ellipse">
            <a:avLst/>
          </a:prstGeom>
          <a:solidFill>
            <a:srgbClr val="4C91A1"/>
          </a:solidFill>
          <a:ln>
            <a:solidFill>
              <a:srgbClr val="4C9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07223" y="2130552"/>
            <a:ext cx="393192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07223" y="2624327"/>
            <a:ext cx="1755648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8343B"/>
                </a:solidFill>
                <a:latin typeface="Aptos"/>
              </a:rPr>
              <a:t>Write a function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88936" y="3118104"/>
            <a:ext cx="1792223" cy="594360"/>
          </a:xfrm>
          <a:prstGeom prst="rect">
            <a:avLst/>
          </a:prstGeom>
          <a:solidFill>
            <a:srgbClr val="E9F2F4"/>
          </a:solidFill>
          <a:ln>
            <a:solidFill>
              <a:srgbClr val="E9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62088" y="3182111"/>
            <a:ext cx="1645919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8343B"/>
                </a:solidFill>
                <a:latin typeface="Consolas"/>
              </a:rPr>
              <a:t>ask_gemini(prompt)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07223" y="3886200"/>
            <a:ext cx="1755648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26B70"/>
                </a:solidFill>
                <a:latin typeface="Aptos"/>
              </a:rPr>
              <a:t>What information goes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26B70"/>
                </a:solidFill>
                <a:latin typeface="Aptos"/>
              </a:rPr>
              <a:t>into this function?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07223" y="4389120"/>
            <a:ext cx="1755648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C91A1"/>
                </a:solidFill>
                <a:latin typeface="Consolas"/>
              </a:rPr>
              <a:t>__________________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C91A1"/>
                </a:solidFill>
                <a:latin typeface="Consolas"/>
              </a:rPr>
              <a:t>__________________</a:t>
            </a:r>
          </a:p>
        </p:txBody>
      </p:sp>
      <p:sp>
        <p:nvSpPr>
          <p:cNvPr id="46" name="Chevron 45"/>
          <p:cNvSpPr/>
          <p:nvPr/>
        </p:nvSpPr>
        <p:spPr>
          <a:xfrm>
            <a:off x="9464040" y="3246120"/>
            <a:ext cx="128016" cy="292608"/>
          </a:xfrm>
          <a:prstGeom prst="chevron">
            <a:avLst/>
          </a:prstGeom>
          <a:solidFill>
            <a:srgbClr val="18343B"/>
          </a:solidFill>
          <a:ln>
            <a:solidFill>
              <a:srgbClr val="183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28632" y="1874519"/>
            <a:ext cx="2084831" cy="3547872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28632" y="1874519"/>
            <a:ext cx="2084831" cy="109728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93224" y="2130552"/>
            <a:ext cx="393192" cy="393192"/>
          </a:xfrm>
          <a:prstGeom prst="ellipse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93224" y="2130552"/>
            <a:ext cx="393192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93224" y="2624327"/>
            <a:ext cx="1755648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8343B"/>
                </a:solidFill>
                <a:latin typeface="Aptos"/>
              </a:rPr>
              <a:t>Get the answer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74936" y="3118104"/>
            <a:ext cx="1792223" cy="594360"/>
          </a:xfrm>
          <a:prstGeom prst="rect">
            <a:avLst/>
          </a:prstGeom>
          <a:solidFill>
            <a:srgbClr val="E5F1EC"/>
          </a:solidFill>
          <a:ln>
            <a:solidFill>
              <a:srgbClr val="E5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48088" y="3182111"/>
            <a:ext cx="1645919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8343B"/>
                </a:solidFill>
                <a:latin typeface="Consolas"/>
              </a:rPr>
              <a:t>response.output_text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93224" y="3886200"/>
            <a:ext cx="1755648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26B70"/>
                </a:solidFill>
                <a:latin typeface="Aptos"/>
              </a:rPr>
              <a:t>Which value contains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26B70"/>
                </a:solidFill>
                <a:latin typeface="Aptos"/>
              </a:rPr>
              <a:t>the generated text?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93224" y="4389120"/>
            <a:ext cx="1755648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47E78"/>
                </a:solidFill>
                <a:latin typeface="Consolas"/>
              </a:rPr>
              <a:t>__________________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47E78"/>
                </a:solidFill>
                <a:latin typeface="Consolas"/>
              </a:rPr>
              <a:t>__________________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5742432"/>
            <a:ext cx="137160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D96C4F"/>
                </a:solidFill>
                <a:latin typeface="Aptos"/>
              </a:rPr>
              <a:t>MY SUMMARY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4519" y="5687568"/>
            <a:ext cx="868680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8343B"/>
                </a:solidFill>
                <a:latin typeface="Aptos"/>
              </a:rPr>
              <a:t>The script takes a prompt and returns ________________________________.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10312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47E78"/>
                </a:solidFill>
                <a:latin typeface="Aptos"/>
              </a:rPr>
              <a:t>GEMINI /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78992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8343B"/>
                </a:solidFill>
                <a:latin typeface="Georgia"/>
              </a:rPr>
              <a:t>Write It From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69848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26B70"/>
                </a:solidFill>
                <a:latin typeface="Aptos"/>
              </a:rPr>
              <a:t>Try the blanks first without opening your Python file. The code blocks are editable.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0464" y="6473952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526B70"/>
                </a:solidFill>
                <a:latin typeface="Aptos"/>
              </a:rPr>
              <a:t>02  / 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54406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5440680" cy="109728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92861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47E78"/>
                </a:solidFill>
                <a:latin typeface="Aptos"/>
              </a:rPr>
              <a:t>A. KEY +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2377440"/>
            <a:ext cx="5038344" cy="3584448"/>
          </a:xfrm>
          <a:prstGeom prst="rect">
            <a:avLst/>
          </a:prstGeom>
          <a:solidFill>
            <a:srgbClr val="E5F1EC"/>
          </a:solidFill>
          <a:ln>
            <a:solidFill>
              <a:srgbClr val="E5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78024"/>
            <a:ext cx="4745736" cy="34107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import __________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from dotenv import __________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from google import __________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load_dotenv()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api_key = os.getenv(____________)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if not api_key: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    raise ValueError(____________)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client = genai.Client(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    api_key=____________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98464"/>
            <a:ext cx="4928616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26B70"/>
                </a:solidFill>
                <a:latin typeface="Aptos"/>
              </a:rPr>
              <a:t>Write the missing parts from memory.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691640"/>
            <a:ext cx="54406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691640"/>
            <a:ext cx="5440680" cy="109728"/>
          </a:xfrm>
          <a:prstGeom prst="rect">
            <a:avLst/>
          </a:prstGeom>
          <a:solidFill>
            <a:srgbClr val="D96C4F"/>
          </a:solidFill>
          <a:ln>
            <a:solidFill>
              <a:srgbClr val="D96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920240"/>
            <a:ext cx="492861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D96C4F"/>
                </a:solidFill>
                <a:latin typeface="Aptos"/>
              </a:rPr>
              <a:t>B. FUNCTION + PROMPT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77440"/>
            <a:ext cx="5038344" cy="3584448"/>
          </a:xfrm>
          <a:prstGeom prst="rect">
            <a:avLst/>
          </a:prstGeom>
          <a:solidFill>
            <a:srgbClr val="F9EBE5"/>
          </a:solidFill>
          <a:ln>
            <a:solidFill>
              <a:srgbClr val="F9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478024"/>
            <a:ext cx="4745736" cy="34107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def ask_gemini(____________):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    response = client.interactions.create(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        model=____________,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        input=____________,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    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    return response.____________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prompt = input(____________)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answer = ask_gemini(____________)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print(type(answer))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8343B"/>
                </a:solidFill>
                <a:latin typeface="Consolas"/>
              </a:rPr>
              <a:t>print(____________)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5998464"/>
            <a:ext cx="4928616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26B70"/>
                </a:solidFill>
                <a:latin typeface="Aptos"/>
              </a:rPr>
              <a:t>Write the missing parts from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27648"/>
            <a:ext cx="987552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26B70"/>
                </a:solidFill>
                <a:latin typeface="Aptos"/>
              </a:rPr>
              <a:t>Keep your API key in .env. Never write the real key in this worksheet.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10312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47E78"/>
                </a:solidFill>
                <a:latin typeface="Aptos"/>
              </a:rPr>
              <a:t>GEMINI /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78992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8343B"/>
                </a:solidFill>
                <a:latin typeface="Georgia"/>
              </a:rPr>
              <a:t>Quick Recall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69848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26B70"/>
                </a:solidFill>
                <a:latin typeface="Aptos"/>
              </a:rPr>
              <a:t>Close the code and answer these from memory. Then compare with your 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0464" y="6473952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526B70"/>
                </a:solidFill>
                <a:latin typeface="Aptos"/>
              </a:rPr>
              <a:t>03  / 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55648"/>
            <a:ext cx="5422392" cy="1572768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91440" cy="1572768"/>
          </a:xfrm>
          <a:prstGeom prst="rect">
            <a:avLst/>
          </a:prstGeom>
          <a:solidFill>
            <a:srgbClr val="247E78"/>
          </a:solidFill>
          <a:ln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11095"/>
            <a:ext cx="4965192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7E78"/>
                </a:solidFill>
                <a:latin typeface="Aptos"/>
              </a:rPr>
              <a:t>01 /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496519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8343B"/>
                </a:solidFill>
                <a:latin typeface="Aptos"/>
              </a:rPr>
              <a:t>Why call load_dotenv() before reading the key?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70048"/>
            <a:ext cx="4965192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26B70"/>
                </a:solidFill>
                <a:latin typeface="Consolas"/>
              </a:rPr>
              <a:t>________________________________________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26B70"/>
                </a:solidFill>
                <a:latin typeface="Consolas"/>
              </a:rPr>
              <a:t>________________________________________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755648"/>
            <a:ext cx="5422392" cy="1572768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755648"/>
            <a:ext cx="91440" cy="1572768"/>
          </a:xfrm>
          <a:prstGeom prst="rect">
            <a:avLst/>
          </a:prstGeom>
          <a:solidFill>
            <a:srgbClr val="D96C4F"/>
          </a:solidFill>
          <a:ln>
            <a:solidFill>
              <a:srgbClr val="D96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911095"/>
            <a:ext cx="4965192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D96C4F"/>
                </a:solidFill>
                <a:latin typeface="Aptos"/>
              </a:rPr>
              <a:t>02 /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212848"/>
            <a:ext cx="496519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8343B"/>
                </a:solidFill>
                <a:latin typeface="Aptos"/>
              </a:rPr>
              <a:t>What goes into ask_gemini(), and what comes back?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70048"/>
            <a:ext cx="4965192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26B70"/>
                </a:solidFill>
                <a:latin typeface="Consolas"/>
              </a:rPr>
              <a:t>________________________________________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26B70"/>
                </a:solidFill>
                <a:latin typeface="Consolas"/>
              </a:rPr>
              <a:t>________________________________________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566160"/>
            <a:ext cx="5422392" cy="1572768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566160"/>
            <a:ext cx="91440" cy="1572768"/>
          </a:xfrm>
          <a:prstGeom prst="rect">
            <a:avLst/>
          </a:prstGeom>
          <a:solidFill>
            <a:srgbClr val="D3A637"/>
          </a:solidFill>
          <a:ln>
            <a:solidFill>
              <a:srgbClr val="D3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721608"/>
            <a:ext cx="4965192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D3A637"/>
                </a:solidFill>
                <a:latin typeface="Aptos"/>
              </a:rPr>
              <a:t>03 / REQUEST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023360"/>
            <a:ext cx="496519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8343B"/>
                </a:solidFill>
                <a:latin typeface="Aptos"/>
              </a:rPr>
              <a:t>Complete: prompt -&gt; __________ -&gt; Gemini -&gt; __________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480560"/>
            <a:ext cx="4965192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26B70"/>
                </a:solidFill>
                <a:latin typeface="Consolas"/>
              </a:rPr>
              <a:t>________________________________________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26B70"/>
                </a:solidFill>
                <a:latin typeface="Consolas"/>
              </a:rPr>
              <a:t>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3566160"/>
            <a:ext cx="5422392" cy="1572768"/>
          </a:xfrm>
          <a:prstGeom prst="rect">
            <a:avLst/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566160"/>
            <a:ext cx="91440" cy="1572768"/>
          </a:xfrm>
          <a:prstGeom prst="rect">
            <a:avLst/>
          </a:prstGeom>
          <a:solidFill>
            <a:srgbClr val="4C91A1"/>
          </a:solidFill>
          <a:ln>
            <a:solidFill>
              <a:srgbClr val="4C9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3721608"/>
            <a:ext cx="4965192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C91A1"/>
                </a:solidFill>
                <a:latin typeface="Aptos"/>
              </a:rPr>
              <a:t>04 / DEBUGGING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023360"/>
            <a:ext cx="4965192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8343B"/>
                </a:solidFill>
                <a:latin typeface="Aptos"/>
              </a:rPr>
              <a:t>If it times out, what two things could you check first?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480560"/>
            <a:ext cx="4965192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26B70"/>
                </a:solidFill>
                <a:latin typeface="Consolas"/>
              </a:rPr>
              <a:t>________________________________________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26B70"/>
                </a:solidFill>
                <a:latin typeface="Consolas"/>
              </a:rPr>
              <a:t>________________________________________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468112"/>
            <a:ext cx="11045952" cy="749808"/>
          </a:xfrm>
          <a:prstGeom prst="rect">
            <a:avLst/>
          </a:prstGeom>
          <a:solidFill>
            <a:srgbClr val="18343B"/>
          </a:solidFill>
          <a:ln>
            <a:solidFill>
              <a:srgbClr val="183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596128"/>
            <a:ext cx="15544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A8D8CC"/>
                </a:solidFill>
                <a:latin typeface="Aptos"/>
              </a:rPr>
              <a:t>SECURITY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559552"/>
            <a:ext cx="685800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[ ] I do not print the API key     [ ] I keep .env out of 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