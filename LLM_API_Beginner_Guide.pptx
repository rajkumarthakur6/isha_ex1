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Your First LLM API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A beginner-friendly guide: connect Python to an AI model, ask a question, and keep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01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0972800" cy="2926080"/>
          </a:xfrm>
          <a:prstGeom prst="rect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A simple request travels through five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852928"/>
            <a:ext cx="1737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99232"/>
            <a:ext cx="1554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47E78"/>
                </a:solidFill>
                <a:latin typeface="Aptos"/>
              </a:rP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2"/>
            <a:ext cx="151790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8343B"/>
                </a:solidFill>
                <a:latin typeface="Aptos"/>
              </a:rPr>
              <a:t>Ask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3227832"/>
            <a:ext cx="29260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A8D8CC"/>
                </a:solidFill>
                <a:latin typeface="Aptos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852928"/>
            <a:ext cx="1737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999232"/>
            <a:ext cx="1554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C91A1"/>
                </a:solidFill>
                <a:latin typeface="Aptos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3364992"/>
            <a:ext cx="151790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8343B"/>
                </a:solidFill>
                <a:latin typeface="Aptos"/>
              </a:rPr>
              <a:t>Builds the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27832"/>
            <a:ext cx="29260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A8D8CC"/>
                </a:solidFill>
                <a:latin typeface="Aptos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75504" y="2852928"/>
            <a:ext cx="1737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999232"/>
            <a:ext cx="1554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3A637"/>
                </a:solidFill>
                <a:latin typeface="Aptos"/>
              </a:rPr>
              <a:t>API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3364992"/>
            <a:ext cx="151790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8343B"/>
                </a:solidFill>
                <a:latin typeface="Aptos"/>
              </a:rPr>
              <a:t>Proves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3227832"/>
            <a:ext cx="29260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A8D8CC"/>
                </a:solidFill>
                <a:latin typeface="Aptos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852928"/>
            <a:ext cx="1737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999232"/>
            <a:ext cx="1554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6C4F"/>
                </a:solidFill>
                <a:latin typeface="Aptos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3364992"/>
            <a:ext cx="151790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8343B"/>
                </a:solidFill>
                <a:latin typeface="Aptos"/>
              </a:rPr>
              <a:t>Generates a reply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227832"/>
            <a:ext cx="29260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A8D8CC"/>
                </a:solidFill>
                <a:latin typeface="Aptos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2852928"/>
            <a:ext cx="1737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2999232"/>
            <a:ext cx="15544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47E78"/>
                </a:solidFill>
                <a:latin typeface="Aptos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3364992"/>
            <a:ext cx="151790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18343B"/>
                </a:solidFill>
                <a:latin typeface="Aptos"/>
              </a:rPr>
              <a:t>Returns to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102352"/>
            <a:ext cx="10515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C4F"/>
                </a:solidFill>
                <a:latin typeface="Aptos"/>
              </a:rPr>
              <a:t>KEY IDEA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38344"/>
            <a:ext cx="9098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8343B"/>
                </a:solidFill>
                <a:latin typeface="Aptos"/>
              </a:rPr>
              <a:t>Your Python app connects to a model using the provider's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23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The examples use Gemini; the same building blocks apply to many LLM providers.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Four Things Your App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Think of asking an AI model like sending a message through a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02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938528"/>
            <a:ext cx="2450592" cy="2560320"/>
          </a:xfrm>
          <a:prstGeom prst="rect">
            <a:avLst/>
          </a:prstGeom>
          <a:solidFill>
            <a:srgbClr val="E5F1EC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938528"/>
            <a:ext cx="91440" cy="256032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84832"/>
            <a:ext cx="203911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47E78"/>
                </a:solidFill>
                <a:latin typeface="Aptos"/>
              </a:rPr>
              <a:t>1 / 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2011680" cy="19019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A secret password for your app to access a provider.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Keep it private.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38528"/>
            <a:ext cx="2450592" cy="2560320"/>
          </a:xfrm>
          <a:prstGeom prst="rect">
            <a:avLst/>
          </a:prstGeom>
          <a:solidFill>
            <a:srgbClr val="E9F2F4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938528"/>
            <a:ext cx="91440" cy="2560320"/>
          </a:xfrm>
          <a:prstGeom prst="rect">
            <a:avLst/>
          </a:prstGeom>
          <a:solidFill>
            <a:srgbClr val="4C91A1"/>
          </a:solidFill>
          <a:ln>
            <a:solidFill>
              <a:srgbClr val="4C9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084832"/>
            <a:ext cx="203911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C91A1"/>
                </a:solidFill>
                <a:latin typeface="Aptos"/>
              </a:rPr>
              <a:t>2 / PYTHON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68880"/>
            <a:ext cx="2011680" cy="19019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A package that makes it easier for Python to talk to that provider.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938528"/>
            <a:ext cx="2450592" cy="2560320"/>
          </a:xfrm>
          <a:prstGeom prst="rect">
            <a:avLst/>
          </a:prstGeom>
          <a:solidFill>
            <a:srgbClr val="F7F1D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938528"/>
            <a:ext cx="91440" cy="2560320"/>
          </a:xfrm>
          <a:prstGeom prst="rect">
            <a:avLst/>
          </a:prstGeom>
          <a:solidFill>
            <a:srgbClr val="D3A637"/>
          </a:solidFill>
          <a:ln>
            <a:solidFill>
              <a:srgbClr val="D3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84832"/>
            <a:ext cx="203911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3A637"/>
                </a:solidFill>
                <a:latin typeface="Aptos"/>
              </a:rPr>
              <a:t>3 /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468880"/>
            <a:ext cx="2011680" cy="19019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The particular AI model you choose, such as a supported Gemini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1938528"/>
            <a:ext cx="2450592" cy="2560320"/>
          </a:xfrm>
          <a:prstGeom prst="rect">
            <a:avLst/>
          </a:prstGeom>
          <a:solidFill>
            <a:srgbClr val="F9EBE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1938528"/>
            <a:ext cx="91440" cy="2560320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084832"/>
            <a:ext cx="203911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96C4F"/>
                </a:solidFill>
                <a:latin typeface="Aptos"/>
              </a:rPr>
              <a:t>4 /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2468880"/>
            <a:ext cx="2011680" cy="19019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The question or instruction you send to the model.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892040"/>
            <a:ext cx="10972800" cy="841248"/>
          </a:xfrm>
          <a:prstGeom prst="rect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84064"/>
            <a:ext cx="10469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API KEY  +  SDK  +  MODEL  +  PROMPT   -&gt;   AI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925312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26B70"/>
                </a:solidFill>
                <a:latin typeface="Aptos"/>
              </a:rPr>
              <a:t>The API key gives access; it is not the model name.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Read the Python: One Chat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This uses the Gemini Python SDK, as in your practice script. Other providers use different SDK syntax.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03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755648"/>
            <a:ext cx="54864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55648"/>
            <a:ext cx="5486400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508406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47E78"/>
                </a:solidFill>
                <a:latin typeface="Aptos"/>
              </a:rPr>
              <a:t>THE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350008"/>
            <a:ext cx="5157216" cy="3493008"/>
          </a:xfrm>
          <a:prstGeom prst="rect">
            <a:avLst/>
          </a:prstGeom>
          <a:solidFill>
            <a:srgbClr val="F7F8F4"/>
          </a:solidFill>
          <a:ln>
            <a:solidFill>
              <a:srgbClr val="F7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4864608" cy="3337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import 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from dotenv import load_dotenv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from google import genai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load_dotenv()  # read values from .env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api_key = os.getenv("GEMINI_API_KEY")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client = genai.Client(api_key=api_key)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chat = client.chats.create(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    model="gemini-3.8-flash"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response = chat.send_message("Say hello")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print(response.text)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755648"/>
            <a:ext cx="5166360" cy="960120"/>
          </a:xfrm>
          <a:prstGeom prst="rect">
            <a:avLst/>
          </a:prstGeom>
          <a:solidFill>
            <a:srgbClr val="E5F1EC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755648"/>
            <a:ext cx="91440" cy="96012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0195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47E78"/>
                </a:solidFill>
                <a:latin typeface="Aptos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286000"/>
            <a:ext cx="4727448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Sets up a connection using your API key.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898648"/>
            <a:ext cx="5166360" cy="960120"/>
          </a:xfrm>
          <a:prstGeom prst="rect">
            <a:avLst/>
          </a:prstGeom>
          <a:solidFill>
            <a:srgbClr val="E9F2F4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2898648"/>
            <a:ext cx="91440" cy="960120"/>
          </a:xfrm>
          <a:prstGeom prst="rect">
            <a:avLst/>
          </a:prstGeom>
          <a:solidFill>
            <a:srgbClr val="4C91A1"/>
          </a:solidFill>
          <a:ln>
            <a:solidFill>
              <a:srgbClr val="4C9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304495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C91A1"/>
                </a:solidFill>
                <a:latin typeface="Aptos"/>
              </a:rPr>
              <a:t>SEND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429000"/>
            <a:ext cx="4727448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Sends your prompt to the chosen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4041648"/>
            <a:ext cx="5166360" cy="960120"/>
          </a:xfrm>
          <a:prstGeom prst="rect">
            <a:avLst/>
          </a:prstGeom>
          <a:solidFill>
            <a:srgbClr val="F9EBE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4041648"/>
            <a:ext cx="91440" cy="960120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418795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96C4F"/>
                </a:solidFill>
                <a:latin typeface="Aptos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4572000"/>
            <a:ext cx="4727448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Contains the text the model generated.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285232"/>
            <a:ext cx="498348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26B70"/>
                </a:solidFill>
                <a:latin typeface="Aptos"/>
              </a:rPr>
              <a:t>You can change the prompt and model without changing the basic request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How Chat Memory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The model does not automatically know what you said earlier. Your app sends the conversation history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04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0292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26280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47E78"/>
                </a:solidFill>
                <a:latin typeface="Aptos"/>
              </a:rPr>
              <a:t>SAVED CHAT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4526280" cy="804672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79776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Consolas"/>
              </a:rPr>
              <a:t>You: My name is Isha.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84448"/>
            <a:ext cx="4526280" cy="804672"/>
          </a:xfrm>
          <a:prstGeom prst="rect">
            <a:avLst/>
          </a:prstGeom>
          <a:solidFill>
            <a:srgbClr val="E9F2F4"/>
          </a:solidFill>
          <a:ln>
            <a:solidFill>
              <a:srgbClr val="E9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58184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Consolas"/>
              </a:rPr>
              <a:t>AI: Nice to meet you, Isha!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4526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26B70"/>
                </a:solidFill>
                <a:latin typeface="Aptos"/>
              </a:rPr>
              <a:t>Saved locally in .chat_memory.json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96265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D3A637"/>
                </a:solidFill>
                <a:latin typeface="Aptos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9088" y="2331720"/>
            <a:ext cx="2011680" cy="1353312"/>
          </a:xfrm>
          <a:prstGeom prst="rect">
            <a:avLst/>
          </a:prstGeom>
          <a:solidFill>
            <a:srgbClr val="F7F1DF"/>
          </a:solidFill>
          <a:ln>
            <a:solidFill>
              <a:srgbClr val="F7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587752"/>
            <a:ext cx="17190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3A637"/>
                </a:solidFill>
                <a:latin typeface="Aptos"/>
              </a:rPr>
              <a:t>NEW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944368"/>
            <a:ext cx="171907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What is my name?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761488"/>
            <a:ext cx="43891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47E78"/>
                </a:solidFill>
                <a:latin typeface="Aptos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331720"/>
            <a:ext cx="2240280" cy="1353312"/>
          </a:xfrm>
          <a:prstGeom prst="rect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587752"/>
            <a:ext cx="1965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HISTORY +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944368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Sent to the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4005072"/>
            <a:ext cx="4919472" cy="1261872"/>
          </a:xfrm>
          <a:prstGeom prst="rect">
            <a:avLst/>
          </a:prstGeom>
          <a:solidFill>
            <a:srgbClr val="F9EBE5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4005072"/>
            <a:ext cx="91440" cy="1261872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151376"/>
            <a:ext cx="450799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96C4F"/>
                </a:solidFill>
                <a:latin typeface="Aptos"/>
              </a:rPr>
              <a:t>IN YOUR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4535424"/>
            <a:ext cx="4480560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8343B"/>
                </a:solidFill>
                <a:latin typeface="Aptos"/>
              </a:rPr>
              <a:t>Load saved turns when chat starts; save new turns after a reply. Use /clear to start 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60720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8343B"/>
                </a:solidFill>
                <a:latin typeface="Aptos"/>
              </a:rPr>
              <a:t>That is why Gemini can answer the follow-up about Isha.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Keep Your Key Safe; Know Your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A real API key is private. Usage limits and prices are controlled by the provider and your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05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342900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754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47E78"/>
                </a:solidFill>
                <a:latin typeface="Aptos"/>
              </a:rPr>
              <a:t>SAFE KEY HABITS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4617720" cy="1508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1. Put the key in a .env file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2. Read it with os.getenv(...)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3. Add .env to .gitignore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4. Never print or share the real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43400"/>
            <a:ext cx="4617720" cy="530352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62272"/>
            <a:ext cx="4343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8343B"/>
                </a:solidFill>
                <a:latin typeface="Consolas"/>
              </a:rPr>
              <a:t>GEMINI_API_KEY=your-key-goes-here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828800"/>
            <a:ext cx="534924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828800"/>
            <a:ext cx="91440" cy="3429000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754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96C4F"/>
                </a:solidFill>
                <a:latin typeface="Aptos"/>
              </a:rPr>
              <a:t>WHEN YOU SEE A QUOTA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78608"/>
            <a:ext cx="4617720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8343B"/>
                </a:solidFill>
                <a:latin typeface="Aptos"/>
              </a:rPr>
              <a:t>The provider may limit how many requests you can make.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8343B"/>
                </a:solidFill>
                <a:latin typeface="Aptos"/>
              </a:rPr>
              <a:t>RESOURCE_EXHAUSTED means a usage limit was reached.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8343B"/>
                </a:solidFill>
                <a:latin typeface="Aptos"/>
              </a:rPr>
              <a:t>Wait for the reset time or check your provider's plan. Your script should show the error clearly.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66928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8343B"/>
                </a:solidFill>
                <a:latin typeface="Aptos"/>
              </a:rPr>
              <a:t>Never put your real API key in a screenshot, chat, or source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LLM API / PYTHON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Can I Use a Different LLM Provider?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Yes. Keep the idea; change the provider-specific setup. Always check that provider's current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06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349240" cy="2926080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663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47E78"/>
                </a:solidFill>
                <a:latin typeface="Aptos"/>
              </a:rPr>
              <a:t>SAME BASIC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572000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A private API key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A Python app sends a prompt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A model generates a reply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Your app can send chat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828800"/>
            <a:ext cx="5349240" cy="2926080"/>
          </a:xfrm>
          <a:prstGeom prst="rect">
            <a:avLst/>
          </a:prstGeom>
          <a:solidFill>
            <a:srgbClr val="E9F2F4"/>
          </a:solidFill>
          <a:ln>
            <a:solidFill>
              <a:srgbClr val="E9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75688"/>
            <a:ext cx="4663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C91A1"/>
                </a:solidFill>
                <a:latin typeface="Aptos"/>
              </a:rPr>
              <a:t>CHANGES BY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70048"/>
            <a:ext cx="4572000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Python package / SDK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Client setup and key name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Available model names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8343B"/>
                </a:solidFill>
                <a:latin typeface="Aptos"/>
              </a:rPr>
              <a:t>• Request and response syntax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47488"/>
            <a:ext cx="10927080" cy="777240"/>
          </a:xfrm>
          <a:prstGeom prst="rect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784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Learn one provider first. Then switch using its own SDK guide and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998464"/>
            <a:ext cx="107899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26B70"/>
                </a:solidFill>
                <a:latin typeface="Aptos"/>
              </a:rPr>
              <a:t>API keys are issued by providers; one provider's key usually cannot access another provider's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